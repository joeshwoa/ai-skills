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i="0">
                <a:solidFill>
                  <a:srgbClr val="D4AF6A"/>
                </a:solidFill>
                <a:latin typeface="Calibri"/>
              </a:rPr>
              <a:t>BOARD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400" b="1" i="0">
                <a:solidFill>
                  <a:srgbClr val="F5F1E8"/>
                </a:solidFill>
                <a:latin typeface="Georgia"/>
              </a:rPr>
              <a:t>Northwind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 i="0">
                <a:solidFill>
                  <a:srgbClr val="8A93A8"/>
                </a:solidFill>
                <a:latin typeface="Calibri"/>
              </a:rPr>
              <a:t>Q3 2026 results and the plan for Q4 — sample deck generated to demonstrate the premium-presentations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dur="7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27432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200" b="1" i="0">
                <a:solidFill>
                  <a:srgbClr val="D4AF6A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600" b="1" i="0">
                <a:solidFill>
                  <a:srgbClr val="F5F1E8"/>
                </a:solidFill>
                <a:latin typeface="Georgia"/>
              </a:rPr>
              <a:t>Where we ended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i="0">
                <a:solidFill>
                  <a:srgbClr val="F5F1E8"/>
                </a:solidFill>
                <a:latin typeface="Georgia"/>
              </a:rPr>
              <a:t>Q3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23088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solidFill>
                  <a:srgbClr val="D4AF6A"/>
                </a:solidFill>
                <a:latin typeface="Georgia"/>
              </a:rPr>
              <a:t>$1.24M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32308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 i="0">
                <a:solidFill>
                  <a:srgbClr val="8A93A8"/>
                </a:solidFill>
                <a:latin typeface="Calibri"/>
              </a:rPr>
              <a:t>ARR, up from $0.91M in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8160" y="2194560"/>
            <a:ext cx="323088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solidFill>
                  <a:srgbClr val="D4AF6A"/>
                </a:solidFill>
                <a:latin typeface="Georgia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160" y="3474720"/>
            <a:ext cx="32308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 i="0">
                <a:solidFill>
                  <a:srgbClr val="8A93A8"/>
                </a:solidFill>
                <a:latin typeface="Calibri"/>
              </a:rPr>
              <a:t>Net-new paying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3360" y="2194560"/>
            <a:ext cx="323088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solidFill>
                  <a:srgbClr val="D4AF6A"/>
                </a:solidFill>
                <a:latin typeface="Georgia"/>
              </a:rPr>
              <a:t>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3360" y="3474720"/>
            <a:ext cx="32308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 i="0">
                <a:solidFill>
                  <a:srgbClr val="8A93A8"/>
                </a:solidFill>
                <a:latin typeface="Calibri"/>
              </a:rPr>
              <a:t>Monthly logo churn, down from 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i="0">
                <a:solidFill>
                  <a:srgbClr val="F5F1E8"/>
                </a:solidFill>
                <a:latin typeface="Georgia"/>
              </a:rPr>
              <a:t>What drove the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Self-serve signup shipped in July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Cut average time-to-first-value from 9 days to 36 minutes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Enterprise tier launched with SSO + audit logs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Closed 4 deals &gt;$40k ACV directly attributable to this tier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Support response time down to 2h median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New on-call rotation plus a triage bot for common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i="0">
                <a:solidFill>
                  <a:srgbClr val="F5F1E8"/>
                </a:solidFill>
                <a:latin typeface="Georgia"/>
              </a:rPr>
              <a:t>Revenue by segment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2141C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2141C"/>
                          </a:solidFill>
                          <a:latin typeface="Calibri"/>
                        </a:rPr>
                        <a:t>Q2 ARR</a:t>
                      </a:r>
                    </a:p>
                  </a:txBody>
                  <a:tcPr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2141C"/>
                          </a:solidFill>
                          <a:latin typeface="Calibri"/>
                        </a:rPr>
                        <a:t>Q3 ARR</a:t>
                      </a:r>
                    </a:p>
                  </a:txBody>
                  <a:tcPr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2141C"/>
                          </a:solidFill>
                          <a:latin typeface="Calibri"/>
                        </a:rPr>
                        <a:t>QoQ growth</a:t>
                      </a:r>
                    </a:p>
                  </a:txBody>
                  <a:tcPr>
                    <a:solidFill>
                      <a:srgbClr val="D4AF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Self-serve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$210k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$340k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+62%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$480k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$610k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+27%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$220k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$290k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1E8"/>
                          </a:solidFill>
                          <a:latin typeface="Calibri"/>
                        </a:rPr>
                        <a:t>+32%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0" i="1">
                <a:solidFill>
                  <a:srgbClr val="F5F1E8"/>
                </a:solidFill>
                <a:latin typeface="Georgia"/>
              </a:rPr>
              <a:t>“We replaced three internal spreadsheets and a weekly manual export with Northwind in about an afternoon.”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 i="0">
                <a:solidFill>
                  <a:srgbClr val="D4AF6A"/>
                </a:solidFill>
                <a:latin typeface="Calibri"/>
              </a:rPr>
              <a:t>— VP Ops, Q3 enterprise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27432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200" b="1" i="0">
                <a:solidFill>
                  <a:srgbClr val="D4AF6A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600" b="1" i="0">
                <a:solidFill>
                  <a:srgbClr val="F5F1E8"/>
                </a:solidFill>
                <a:latin typeface="Georgia"/>
              </a:rPr>
              <a:t>The plan for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i="0">
                <a:solidFill>
                  <a:srgbClr val="F5F1E8"/>
                </a:solidFill>
                <a:latin typeface="Georgia"/>
              </a:rPr>
              <a:t>Q4 priorities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Ship usage-based billing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Unblocks two enterprise deals currently stuck on pricing model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Reduce churn below 4%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Onboarding redesign + proactive check-ins for accounts below 40% feature adoption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5F1E8"/>
                </a:solidFill>
                <a:latin typeface="Calibri"/>
              </a:rPr>
              <a:t>●  Hire 2 AEs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3A8"/>
                </a:solidFill>
                <a:latin typeface="Calibri"/>
              </a:rPr>
              <a:t>     Current pipeline exceeds what the founder-led sales motion can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  <p:transition spd="med" dur="7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solidFill>
                  <a:srgbClr val="F5F1E8"/>
                </a:solidFill>
                <a:latin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96012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0" i="0">
                <a:solidFill>
                  <a:srgbClr val="D4AF6A"/>
                </a:solidFill>
                <a:latin typeface="Calibri"/>
              </a:rPr>
              <a:t>This is sample data — swap in your real numbers via deck_spec.json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23160"/>
            <a:ext cx="822960" cy="5080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Northwind Analytics · Confidential — sample data for demo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972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8A93A8"/>
                </a:solidFill>
                <a:latin typeface="Calibri"/>
              </a:rPr>
              <a:t>09 / 09</a:t>
            </a:r>
          </a:p>
        </p:txBody>
      </p:sp>
    </p:spTree>
  </p:cSld>
  <p:clrMapOvr>
    <a:masterClrMapping/>
  </p:clrMapOvr>
  <p:transition spd="med" 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